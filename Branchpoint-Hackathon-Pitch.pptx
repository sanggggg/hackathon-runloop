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804bda27754654" /><Relationship Type="http://schemas.openxmlformats.org/officeDocument/2006/relationships/extended-properties" Target="/docProps/app.xml" Id="Rd009af0985c048ec" /><Relationship Type="http://schemas.openxmlformats.org/officeDocument/2006/relationships/officeDocument" Target="/ppt/presentation.xml" Id="Rcdc7b4b2325044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8001fc343143ce"/>
  </p:sldMasterIdLst>
  <p:notesMasterIdLst>
    <p:notesMasterId xmlns:r="http://schemas.openxmlformats.org/officeDocument/2006/relationships" r:id="Rdc4e4342d9694f0e"/>
  </p:notesMasterIdLst>
  <p:sldIdLst>
    <p:sldId xmlns:r="http://schemas.openxmlformats.org/officeDocument/2006/relationships" id="256" r:id="R5b61adb158144736"/>
    <p:sldId xmlns:r="http://schemas.openxmlformats.org/officeDocument/2006/relationships" id="257" r:id="R16bda9db6fa84706"/>
    <p:sldId xmlns:r="http://schemas.openxmlformats.org/officeDocument/2006/relationships" id="258" r:id="R321d27ed9a6042a7"/>
    <p:sldId xmlns:r="http://schemas.openxmlformats.org/officeDocument/2006/relationships" id="259" r:id="Raad8e674cb664f30"/>
    <p:sldId xmlns:r="http://schemas.openxmlformats.org/officeDocument/2006/relationships" id="260" r:id="R9bf01ee7a95e434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b33b93cce54ac9" /><Relationship Type="http://schemas.openxmlformats.org/officeDocument/2006/relationships/slideMaster" Target="/ppt/slideMasters/slideMaster1.xml" Id="R938001fc343143ce" /><Relationship Type="http://schemas.openxmlformats.org/officeDocument/2006/relationships/notesMaster" Target="/ppt/notesMasters/notesMaster1.xml" Id="Rdc4e4342d9694f0e" /><Relationship Type="http://schemas.openxmlformats.org/officeDocument/2006/relationships/presProps" Target="/ppt/presProps.xml" Id="R121e2cb267e04e78" /><Relationship Type="http://schemas.openxmlformats.org/officeDocument/2006/relationships/tableStyles" Target="/ppt/tableStyles.xml" Id="R16b9b35c37684406" /><Relationship Type="http://schemas.openxmlformats.org/officeDocument/2006/relationships/slide" Target="/ppt/slides/slide1.xml" Id="R5b61adb158144736" /><Relationship Type="http://schemas.openxmlformats.org/officeDocument/2006/relationships/slide" Target="/ppt/slides/slide2.xml" Id="R16bda9db6fa84706" /><Relationship Type="http://schemas.openxmlformats.org/officeDocument/2006/relationships/slide" Target="/ppt/slides/slide3.xml" Id="R321d27ed9a6042a7" /><Relationship Type="http://schemas.openxmlformats.org/officeDocument/2006/relationships/slide" Target="/ppt/slides/slide4.xml" Id="Raad8e674cb664f30" /><Relationship Type="http://schemas.openxmlformats.org/officeDocument/2006/relationships/slide" Target="/ppt/slides/slide5.xml" Id="R9bf01ee7a95e43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48e37325a243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f768e58c1747a4" /><Relationship Type="http://schemas.openxmlformats.org/officeDocument/2006/relationships/notesMaster" Target="/ppt/notesMasters/notesMaster1.xml" Id="R045f9075ce07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24ee7d7fab4c0a" /><Relationship Type="http://schemas.openxmlformats.org/officeDocument/2006/relationships/notesMaster" Target="/ppt/notesMasters/notesMaster1.xml" Id="Re69970cbd8cf4e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2e360df794185" /><Relationship Type="http://schemas.openxmlformats.org/officeDocument/2006/relationships/notesMaster" Target="/ppt/notesMasters/notesMaster1.xml" Id="R023d478643834c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a0d04159fb4d15" /><Relationship Type="http://schemas.openxmlformats.org/officeDocument/2006/relationships/notesMaster" Target="/ppt/notesMasters/notesMaster1.xml" Id="R71a98648712047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486d05f1594819" /><Relationship Type="http://schemas.openxmlformats.org/officeDocument/2006/relationships/notesMaster" Target="/ppt/notesMasters/notesMaster1.xml" Id="Rdec702f356ff41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 claim: expensive browser setup should happen once; every scenario should inherit the same state.</a:t>
            </a:r>
          </a:p>
          <a:p xmlns:a="http://schemas.openxmlformats.org/drawingml/2006/main">
            <a:r>
              <a:t>The screenshot is the actual Branchpoint Run screen supplied by the presenter, including the nested result tree and measured wall-clock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/Users/sangmin/Desktop/hackathon-runloop/README.md</a:t>
            </a:r>
          </a:p>
          <a:p xmlns:a="http://schemas.openxmlformats.org/drawingml/2006/main">
            <a:r>
              <a:t>- /Users/sangmin/Desktop/Screenshot 2026-08-29 at 5.39.18 PM.png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pitch view uses the first three consecutive controlled trials (Trials 1–3) and excludes Trials 4–5 from the slide's calculations. The three included trials compared the same Claude Sonnet 5 model, tools, task, three strategy prompts, and task-ready Runloop fixture. Immediately before every method in every trial, a unique nonce invalidated earlier provider prompt-cache entries; within that method, Anthropic's 5-minute ephemeral prompt cache remained enabled. OpenRouter whole-response caching was disabled and a sticky session kept requests on one provider endpoint. Branchpoint explored once, snapshotted, continued on the source devbox for one branch, and created only N-1 forks; sequential reset the task and ran all three complete trajectories on one devbox; fan-out ran three complete trajectories on three devboxes. Primary wall time is start-to-final-verdict. Sandbox time is the sum of Runloop /usage total_active_seconds after shutdown. LLM cost is the actual Anthropic upstream inference cost returned by OpenRouter for this BYOK account, including cache read/write pricing. Three-run means: Branchpoint 66.787s wall, 200 active sandbox-seconds, $0.150097 LLM cost; sequential 171.573s, 200s, $0.197894; fan-out 76.079s, 220s, $0.188262. Every method passed all three 8-test branches in all three included trials. Observed cache-read ratios were 77.99%, 77.39%, and 74.30% respectively.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/Users/sangmin/Desktop/hackathon-runloop/experiments/three-way-benchmark.py</a:t>
            </a:r>
          </a:p>
          <a:p xmlns:a="http://schemas.openxmlformats.org/drawingml/2006/main">
            <a:r>
              <a:t>- /Users/sangmin/Desktop/hackathon-runloop/experiments/three-way-benchmark-trials-1-3.json</a:t>
            </a:r>
          </a:p>
          <a:p xmlns:a="http://schemas.openxmlformats.org/drawingml/2006/main">
            <a:r>
              <a:t>- https://docs.runloop.ai/api-reference/devbox/get-resource-usage-for-a-devbox</a:t>
            </a:r>
          </a:p>
          <a:p xmlns:a="http://schemas.openxmlformats.org/drawingml/2006/main">
            <a:r>
              <a:t>- https://openrouter.ai/docs/guides/best-practices/prompt-caching</a:t>
            </a:r>
          </a:p>
          <a:p xmlns:a="http://schemas.openxmlformats.org/drawingml/2006/main">
            <a:r>
              <a:t>- https://openrouter.ai/docs/cookbook/administration/usage-accounting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fixture used in the experiment has three branchpoints: the signed-in root, Team plan, and Solo plan. Those branchpoints resolve into six terminal paths.</a:t>
            </a:r>
          </a:p>
          <a:p xmlns:a="http://schemas.openxmlformats.org/drawingml/2006/main">
            <a:r>
              <a:t>At every branchpoint, the current devbox continues as one child and only N−1 sibling devboxes are created from the snapshot.</a:t>
            </a:r>
          </a:p>
          <a:p xmlns:a="http://schemas.openxmlformats.org/drawingml/2006/main">
            <a:r>
              <a:t>Nested snapshots also preserve nested LLM transcript prefixes for prompt-cache reuse.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/Users/sangmin/Desktop/hackathon-runloop/apps/web/lib/fixtures.ts</a:t>
            </a:r>
          </a:p>
          <a:p xmlns:a="http://schemas.openxmlformats.org/drawingml/2006/main">
            <a:r>
              <a:t>- /Users/sangmin/Desktop/hackathon-runloop/experiments/three-way-benchmark.py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executor is recursive: snapshot only when the current node has two or more children; a single-child chain stays on the same devbox.</a:t>
            </a:r>
          </a:p>
          <a:p xmlns:a="http://schemas.openxmlformats.org/drawingml/2006/main">
            <a:r>
              <a:t>Nested forks create nested cacheable transcript prefixes, so the infrastructure and LLM optimization follow the same execution tree.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/Users/sangmin/Desktop/hackathon-runloop/docs/build-spec.html — Engine: how a run walks the tree</a:t>
            </a:r>
          </a:p>
          <a:p xmlns:a="http://schemas.openxmlformats.org/drawingml/2006/main">
            <a:r>
              <a:t>- /Users/sangmin/Desktop/hackathon-runloop/apps/web/lib/fixtures.ts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result tree maps the actual fixture hierarchy and reports intact journeys, app regressions, newly discovered paths, and unresolved branches.</a:t>
            </a:r>
          </a:p>
          <a:p xmlns:a="http://schemas.openxmlformats.org/drawingml/2006/main">
            <a:r>
              <a:t>Close on the execution model: stop recreating state for every scenario; branch from one prepared state instead.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/Users/sangmin/Desktop/hackathon-runloop/apps/web/lib/fixtures.ts</a:t>
            </a:r>
          </a:p>
          <a:p xmlns:a="http://schemas.openxmlformats.org/drawingml/2006/main">
            <a:r>
              <a:t>- /Users/sangmin/Desktop/hackathon-runloop/apps/cli/README.md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5264a63704d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4500b9ba7fb4e34" /><Relationship Type="http://schemas.openxmlformats.org/officeDocument/2006/relationships/slideLayout" Target="/ppt/slideLayouts/slideLayout1.xml" Id="R8d882c1ad0ed436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882c1ad0ed436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3333c2d7224210" /><Relationship Type="http://schemas.openxmlformats.org/officeDocument/2006/relationships/image" Target="/ppt/media/image.png" Id="R09e9c61521c34e47" /><Relationship Type="http://schemas.openxmlformats.org/officeDocument/2006/relationships/notesSlide" Target="/ppt/notesSlides/notesSlide1.xml" Id="R3d5be85b73524ca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d3e1da505343b2" /><Relationship Type="http://schemas.openxmlformats.org/officeDocument/2006/relationships/notesSlide" Target="/ppt/notesSlides/notesSlide2.xml" Id="R068ca05170e446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98fa5150649f6" /><Relationship Type="http://schemas.openxmlformats.org/officeDocument/2006/relationships/notesSlide" Target="/ppt/notesSlides/notesSlide3.xml" Id="R6cc6ed09799a43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b6192eaa64de6" /><Relationship Type="http://schemas.openxmlformats.org/officeDocument/2006/relationships/notesSlide" Target="/ppt/notesSlides/notesSlide4.xml" Id="R8c10086c6b034ce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5dded7c7148fb" /><Relationship Type="http://schemas.openxmlformats.org/officeDocument/2006/relationships/notesSlide" Target="/ppt/notesSlides/notesSlide5.xml" Id="Rfb7e217e8dd54d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68341B-EA5D-410E-9202-C9CD50D45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336F8E5-3379-41B1-AD07-14BED688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Browser QA,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branched at runtime.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42F9E-F009-41F5-A004-54057EC1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90900"/>
            <a:ext cx="504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Run setup once. Fork every scenario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from the exact same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7BB1A7-1928-4703-8F09-80E640B5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912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Powered by Runloop</a:t>
            </a:r>
          </a:p>
        </p:txBody>
      </p:sp>
      <p:sp>
        <p:nvSpPr>
          <p:cNvPr id="30" name="app-screenshot-backing">
            <a:extLst xmlns:a="http://schemas.openxmlformats.org/drawingml/2006/main">
              <a:ext uri="{FF2B5EF4-FFF2-40B4-BE49-F238E27FC236}">
                <a16:creationId xmlns:a16="http://schemas.microsoft.com/office/drawing/2014/main" id="{B1A2C22D-5118-45CC-BE3B-1C6FD0282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952500"/>
            <a:ext cx="5715000" cy="4876800"/>
          </a:xfrm>
          <a:prstGeom xmlns:a="http://schemas.openxmlformats.org/drawingml/2006/main" prst="roundRect">
            <a:avLst>
              <a:gd name="adj" fmla="val 27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9c61521c34e47"/>
          <a:srcRect xmlns:a="http://schemas.openxmlformats.org/drawingml/2006/main" l="33" t="0" r="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1009650"/>
            <a:ext cx="5600700" cy="4762500"/>
          </a:xfrm>
          <a:prstGeom xmlns:a="http://schemas.openxmlformats.org/drawingml/2006/main" prst="roundRect">
            <a:avLst>
              <a:gd name="adj" fmla="val 2000"/>
            </a:avLst>
          </a:prstGeom>
        </p:spPr>
      </p:pic>
    </p:spTree>
    <p:extLst>
      <p:ext uri="{BB962C8B-B14F-4D97-AF65-F5344CB8AC3E}">
        <p14:creationId xmlns:p14="http://schemas.microsoft.com/office/powerpoint/2010/main" val="142746578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13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7313E3-D312-477E-A959-8F9E57A2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544496B1-7D37-40E5-B3BC-6386B3FF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Fastest wall time. Lowest LLM cost.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8C29C-ECAA-47B1-9F13-38D2C5D3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14475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7C0C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B7C0C5"/>
                </a:solidFill>
                <a:latin typeface="Helvetica Neue"/>
                <a:ea typeface="Helvetica Neue"/>
                <a:cs typeface="Helvetica Neue"/>
              </a:rPr>
              <a:t>3 controlled runs · Trials 1–3 · cold cache before every method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881FD-FB3C-4560-A0E5-52E0933C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76450"/>
            <a:ext cx="3238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METHOD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6675E-B4F9-44D3-81BA-EB7FFBE2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ACTIVE SANDBOX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F38F2-871D-4990-B734-7450B30E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764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WALL TIME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62003D-F3AE-4B7E-B1A4-43BFE704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764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LLM COST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3EAE1B-9D7C-4021-9119-40CC345B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8626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1494A-6B0E-4EF5-BD41-33A4178F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476500"/>
            <a:ext cx="110109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123B35"/>
          </a:solidFill>
          <a:ln xmlns:a="http://schemas.openxmlformats.org/drawingml/2006/main" w="9525">
            <a:solidFill>
              <a:srgbClr val="3CBFA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214C3F-3EEE-4831-BB80-28469B2D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098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F97EDF-D96C-4229-97E2-E888B719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shared prefix · source box + N−1 forks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EBE42A-04C0-4944-B445-67DE83AE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05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200s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3F92C-C8B0-48EE-B1FC-4F9086D6A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66.8s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62DA7-281F-4663-9BC7-BB8AACAC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0510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$0.150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7ECD61-0FBF-4638-9CB2-4DB5031D2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76625"/>
            <a:ext cx="110109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0262A"/>
          </a:solidFill>
          <a:ln xmlns:a="http://schemas.openxmlformats.org/drawingml/2006/main" w="9525">
            <a:solidFill>
              <a:srgbClr val="58626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EBA949-E808-4994-9AFE-E6DA6B65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99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sandbox · sequential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6CB12A-CF52-4DC7-971C-EBF81156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52875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one box · three complete trajectories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7E93EE-BA91-424B-B9B0-F286FE8FE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70522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200s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F86499-381D-4E9C-ACE4-A15E45CD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05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171.6s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80A3B-BF89-4C80-9C5D-2023AB5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0522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$0.198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E6B3EB-AA58-4B5A-8E79-3605011C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476750"/>
            <a:ext cx="11010900" cy="838200"/>
          </a:xfrm>
          <a:prstGeom xmlns:a="http://schemas.openxmlformats.org/drawingml/2006/main" prst="roundRect">
            <a:avLst>
              <a:gd name="adj" fmla="val 11364"/>
            </a:avLst>
          </a:prstGeom>
          <a:solidFill xmlns:a="http://schemas.openxmlformats.org/drawingml/2006/main">
            <a:srgbClr val="20262A"/>
          </a:solidFill>
          <a:ln xmlns:a="http://schemas.openxmlformats.org/drawingml/2006/main" w="9525">
            <a:solidFill>
              <a:srgbClr val="58626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DC144C-8F77-4666-B4B3-75EBBB8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 sandboxes · fan-out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E10171-5FFC-4257-8BCB-DE2078B9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3190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AAB4B9"/>
                </a:solidFill>
                <a:latin typeface="Helvetica Neue"/>
                <a:ea typeface="Helvetica Neue"/>
                <a:cs typeface="Helvetica Neue"/>
              </a:rPr>
              <a:t>three boxes · three complete trajectories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64845-4930-41F5-AB09-BD22920B1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053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220s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AE98EE-B77E-4B24-B000-368FFBBE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76.1s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72A75B-04D0-4FD1-88AB-ED1D72C6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705350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$0.188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5E02D5-A99C-4130-B4F0-1CC5038F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vs sequential · wall −61.1% · LLM −24.2% · sandbox equal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946039-96F2-4C4C-B14F-0E6340AAC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518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vs fan-out · wall −12.2% · sandbox −9.1% · LLM −20.3%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C7EB4D-1FA0-4E38-918B-CB6290C07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9055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8F9AA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8F9AA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72735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2B8D2D9-A5E0-4D7B-A62F-F259A2FD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77B3D5FA-B7C6-4A1C-A1AC-5D27F72E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The tree keeps branching as the agent discovers 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72A456-00A0-427C-8DC2-C8B03095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6BA4A-B7B0-48D0-98E8-F79F11AD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108CC-0CF8-4100-9ED4-E28CD1B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Fork is a runtime event—not a one-shot fan-out.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585AA80-05EA-4F93-876E-F42576EFA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099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F38C11E-FE48-4C5D-A428-8898B748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609975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BB0CF4-6CBF-41F4-BAC9-B2583634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71725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C84331A-A662-4D27-9926-A210D4D5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717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9AA158-A5B7-4469-9D9D-CAAB67E7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099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93863C3-1495-4B8D-A3B0-DD00B57A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482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571107-EA32-4D46-82C6-842407AA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37172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3FCF55E-A777-4D45-A663-18CAB191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3717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6DD3CF0-6A1B-4109-A340-9CDBC0BF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AA6AD64-A038-44C5-80BF-CE5D941B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4F6DCA5-0760-4597-92A7-E0B6E17E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193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7104AFC-B2EF-49FD-8212-44C3E337A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60997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4AB50AE-9059-4CB4-A222-44549214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60997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42AEB37-687B-4758-9946-38C4DA30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0ACF7B2-3D24-4581-A846-055929BF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3850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219D17-A18C-48FA-A83C-6F1233DA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576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D0B9C3B-5348-400E-83FA-E3050B04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95BBECC-5E3C-46FA-AD88-74604D76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48225"/>
            <a:ext cx="166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563EF95-56D4-4B58-8A67-A92C1D95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81200"/>
            <a:ext cx="0" cy="3486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3FD4C17-D76B-46C0-983D-6258326E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19450"/>
            <a:ext cx="1714500" cy="781050"/>
          </a:xfrm>
          <a:prstGeom xmlns:a="http://schemas.openxmlformats.org/drawingml/2006/main" prst="roundRect">
            <a:avLst>
              <a:gd name="adj" fmla="val 13415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D59703B-D4F1-45BB-85E9-54B3D59E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90900"/>
            <a:ext cx="137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SIGNED-IN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FIXTURE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89B690B-F1DD-4AC6-968B-0D24CFE3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9087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D8C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B280598-374C-48ED-85D3-1387B943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276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4E0DF7D-CB85-4AA6-9937-313BA0D9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813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FORK</a:t>
            </a:r>
          </a:p>
          <a:p xmlns:a="http://schemas.openxmlformats.org/drawingml/2006/main">
            <a:pPr algn="ctr">
              <a:def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#1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3488946-60EB-44C9-96FC-051B8F16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95262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D8CA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6D9E737-3C84-4595-AE90-75AEC622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0383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8EA71BD-D353-451B-827D-939EEA42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1431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FORK</a:t>
            </a:r>
          </a:p>
          <a:p xmlns:a="http://schemas.openxmlformats.org/drawingml/2006/main">
            <a:pPr algn="ctr">
              <a:def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#2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C87E08B-3CA7-420D-B56B-3D321B69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90875"/>
            <a:ext cx="838200" cy="838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FD8C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F0984D5-092E-43B9-8A7B-C6ABF658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2766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7027687-3AE5-4F80-9FD9-E7AE872ED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3813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FORK</a:t>
            </a:r>
          </a:p>
          <a:p xmlns:a="http://schemas.openxmlformats.org/drawingml/2006/main">
            <a:pPr algn="ctr">
              <a:def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#3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0F8F9B9-40A8-482D-AD81-27EA259D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809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7DF8059-D5D0-4E4B-A5F3-241BBA18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2574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Team plan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2F953D4-EC01-4253-838C-EC437AFF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33750"/>
            <a:ext cx="1809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51A7341-5114-4E19-9776-2698EEDAC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49567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Solo plan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010B4C2-AC3C-4CBB-9791-E7A6FC568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572000"/>
            <a:ext cx="18097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3E8FD18-E600-4C54-A82B-FF51A4FB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33925"/>
            <a:ext cx="1466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Decide later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7BCE6A-03AF-4CD7-9F57-4CA78738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762125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707C497-B198-4FBE-B80C-7B47B7C9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9547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Invite teammates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A9533AD-523B-44A5-8443-5DFDD4E8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05B13D8-8F83-44F4-808C-4786F955B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1460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invites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CDE933B-7B72-4D6F-A818-BD37C0A8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000375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7CA44EA-49BB-4732-BD2B-0240B536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13372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Starter template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143ABC0-8762-4996-9B2F-B531A99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1950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21323C5-401C-4938-B0A4-6DAFE0ED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7528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Blank workspace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F742771-A728-4A55-81AC-032DC2DE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238625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D74709-CED2-4393-B48A-D736270B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71975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Import from CSV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645CAC-AA68-4BC6-8FB8-B7F841A6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10100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1F642C3-1776-44B7-AF56-EB6BB9A5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743450"/>
            <a:ext cx="2228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onboarding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D8EEB6E-1B99-4454-8C23-F1D141EEF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6695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3BCCB11-5E6F-442E-B9DA-D48C4567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05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branchpoints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F3D80BE-F75C-47D2-BB9B-0644DD6E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429000"/>
            <a:ext cx="76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0DD15B8-9AE7-43F6-B6C9-9C544ECC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867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terminal paths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F849F0F-9D0B-49D1-8479-E405EED6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591050"/>
            <a:ext cx="95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N−1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B06E27F-5AB7-40BE-87A2-0B3643C5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02920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new boxes</a:t>
            </a:r>
          </a:p>
          <a:p xmlns:a="http://schemas.openxmlformats.org/drawingml/2006/main">
            <a:pPr algn="l">
              <a:defRPr sz="12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at each fork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783A62DF-174B-4F4E-B557-89D00769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D64DF7D-E326-401E-A5C1-2B33FFD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245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source box continues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F5474F6-D804-4CBC-9255-EF064DCE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34050"/>
            <a:ext cx="171450" cy="1714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49833A7-F1E1-4368-96D0-CD90D320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72452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new devbox from snapshot</a:t>
            </a:r>
          </a:p>
        </p:txBody>
      </p:sp>
    </p:spTree>
    <p:extLst>
      <p:ext uri="{BB962C8B-B14F-4D97-AF65-F5344CB8AC3E}">
        <p14:creationId xmlns:p14="http://schemas.microsoft.com/office/powerpoint/2010/main" val="13222420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9EE02D9-6BFA-4CE8-BF9C-97EE45A3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DC31E17C-0A75-458E-B79C-9E2F575E7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Snapshot only at real fork points.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81382E-EAD0-4A87-82CC-884A588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1826B-B5CC-4C0E-B7DA-86F57B74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0875BB-7FA4-43CE-8456-823398F0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819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Reuse the current box until a node actually fans out.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F796D-ACCC-4A9C-A853-06ADE194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714750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3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39C99F-9C45-4174-832E-0C286ECA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0" cy="2905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7BB2A-EC94-4EAB-8BC4-2CD7E7D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9B2461-FDE4-4B36-8F03-9B73D909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242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3F804-E213-4B46-952C-4E7CC0E07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48275"/>
            <a:ext cx="57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A8F7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3243B3-BCEA-4835-999C-D040151A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9E64F-ECB0-438F-B4C3-7BF2C3F86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D773D6-7820-4B62-A899-899A51CD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D0C14-1DB6-42C5-AC18-97583448D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384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5F31B1-C1D4-429A-B3D3-57833C0E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24275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0367D3-FFC1-4829-B512-A3E1E02C7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0" cy="1238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29608-B48A-4230-B919-2F8224D98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A3EDD9-8E94-4384-8F23-F7FC25F1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719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78D56-9190-4132-B8FD-1D0ABC5F6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A7F1EE-8C71-4E98-9D7D-FF4104FEB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2482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5A579C-B2AC-4C45-98E3-F3E86C6B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17145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7D3D7D-0DB9-45D8-BF11-35F80E44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86150"/>
            <a:ext cx="137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SIGNED-IN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FIXTURE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C98C35-A0E3-4255-ADB3-404FF5B1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47875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31C8B7-9A82-44CD-815B-459D42AC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219325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Team plan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D6DE76-2F78-49A1-B47B-AB80412F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29000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3021BF-1166-49DD-A0BF-06AF9000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Solo plan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946A3E-AFAE-4CF4-A9B8-8F37F35A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17145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BE9B95-054A-417D-AE5B-2054E487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1244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Decide later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410D56-BF77-43C4-AE9D-337F99B3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6212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AC5225-19CE-4D92-BA4A-6C94C18F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9050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Invite teammates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701F2-8498-4823-8D07-786308AE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8125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B25A84-C746-4889-B36F-9AE668AC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5241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invites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6A394-D260-4334-BB48-DD535180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9562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F76676-94EB-474A-9B87-11BE4D56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Starter template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D929DB-3514-4CF0-B438-AB8F3978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14750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563EDC-0B47-439B-A34B-4E9CD395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57625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Blank workspace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73169E-567D-492B-8FB2-49762462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3387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5230839-1A44-4F42-B32B-36B9C6CF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7675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Import from CSV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9E566D3-148A-4DCD-A82F-B53D2E60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2476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6FF5D6A-6F21-453B-AAFC-60B21187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14350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onboarding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598C5B-A2DA-404F-A1AC-A007F577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52825"/>
            <a:ext cx="666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DE6E560-2A20-4418-9A0A-A698B706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5528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SNAP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EEC36C-F279-45A3-A2C4-006A07B5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81225"/>
            <a:ext cx="666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0821F9-8701-4397-B844-16EBD9AF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81225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SNAP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2CA7695-4827-4448-AEC2-F4CEA42F1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666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DD95AD-F9BE-4247-8777-E66BBA24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5623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78E4D0"/>
                </a:solidFill>
                <a:latin typeface="Helvetica Neue"/>
                <a:ea typeface="Helvetica Neue"/>
                <a:cs typeface="Helvetica Neue"/>
              </a:rPr>
              <a:t>SNAP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58718B-EEBA-42EF-A7F8-795D7467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24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2+ children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FC3FE40-BEA6-4050-8A56-71B8C2D8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479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snapshot here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7D45B0-01A1-4A4A-8B44-AF1E791D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62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1 child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01E1F5-EE3B-4AC3-985D-87E49CE4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486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stay on same box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D5A4D67-1B09-414E-8DC3-9E765260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876800"/>
            <a:ext cx="1524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shared LLM prefix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→ cache reuse</a:t>
            </a:r>
          </a:p>
        </p:txBody>
      </p:sp>
    </p:spTree>
    <p:extLst>
      <p:ext uri="{BB962C8B-B14F-4D97-AF65-F5344CB8AC3E}">
        <p14:creationId xmlns:p14="http://schemas.microsoft.com/office/powerpoint/2010/main" val="19638609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B6D9C34-6F9A-4399-A391-7CE6EC10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A8F79"/>
                </a:solidFill>
                <a:latin typeface="Helvetica Neue"/>
                <a:ea typeface="Helvetica Neue"/>
                <a:cs typeface="Helvetica Neue"/>
              </a:rPr>
              <a:t>BRANCHPOINT</a:t>
            </a:r>
          </a:p>
        </p:txBody>
      </p:sp>
      <p:sp>
        <p:nvSpPr>
          <p:cNvPr id="2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21D1C3F3-9ABF-4CE9-9439-25FA18A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858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Every commit returns a visual QA tree.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4D1BEA-F640-4670-AE1B-8207C4CDF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4000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959DA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939F47-37CA-4146-A5CC-81C694F5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29350"/>
            <a:ext cx="11277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173DD-FD92-4D73-B7B4-EFF9A0CA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382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Green = intact · Red = regression · Blue = new path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1E338A-9690-4B71-91C0-71CB56A5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7338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77ABAB-326D-4219-B1E1-DA81DEBD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76475"/>
            <a:ext cx="0" cy="2952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2D3F5E-6D5C-4BB1-B497-20632613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764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0A88D-CD4B-4874-84C4-40DA6642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635F26-76CA-48F6-B81A-C4D8C7ED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2922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9A8A72-F23E-4733-844D-4D3C01FC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76475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5F674-020A-4A01-8FAD-E5C32648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66925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F8385-ED56-4DDA-8C90-D7246754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669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CF889-F634-40D9-88DA-90AA7DCD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3842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ACFF4-E1F6-4E59-BB71-5DD65016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381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D36E2E-4133-479D-B56E-9E9B47F3E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0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16ACDF-5855-4531-B269-A4FB6EB4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528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6DBD35-4BF7-49A7-AA79-FBE9DFB5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243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BD8F2-B528-4361-AED4-7F555993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95800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95277-0BDF-4E7E-B68D-633C76CB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229225"/>
            <a:ext cx="857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D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BB74D8-9759-495B-91C8-AFE1EF32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43275"/>
            <a:ext cx="1524000" cy="781050"/>
          </a:xfrm>
          <a:prstGeom xmlns:a="http://schemas.openxmlformats.org/drawingml/2006/main" prst="roundRect">
            <a:avLst>
              <a:gd name="adj" fmla="val 12195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A66158-969E-4504-BBC4-82A1D97B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24250"/>
            <a:ext cx="1276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SIGNED-IN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FIXTURE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6BA1EF-E474-4E98-914E-E01AFB79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000250"/>
            <a:ext cx="1619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3A9D16-696B-4BE4-9B90-245EEB9D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16217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Team plan ✓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E67883-A129-4E32-B11F-42AAC650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1619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A8F7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AD57FD3-70A0-4BF6-A79C-31693C888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6385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Solo plan ✓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7361FB-00D8-4772-B70B-068687DA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53000"/>
            <a:ext cx="1619250" cy="552450"/>
          </a:xfrm>
          <a:prstGeom xmlns:a="http://schemas.openxmlformats.org/drawingml/2006/main" prst="roundRect">
            <a:avLst>
              <a:gd name="adj" fmla="val 1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9474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B0A378-6DB3-49DA-98A8-C1627704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114925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rPr>
              <a:t>Decide later 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6F64767-8F36-4C3C-B460-C54CC46E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7B8431-3554-4110-90ED-4F10DA0D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621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Invite teammates 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05E5F1-F755-4765-AE82-3B7C80E6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54D88-97F9-40EE-BE47-1F79D7FD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53365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invites 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7A2B28-B721-424E-9006-9A1E9A5A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95625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5F5F1"/>
          </a:solidFill>
          <a:ln xmlns:a="http://schemas.openxmlformats.org/drawingml/2006/main" w="9525">
            <a:solidFill>
              <a:srgbClr val="0A8F7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D05C9FC-4FB3-4B79-9607-324721A2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480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Starter · UI changed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59142A-34BF-4151-A77B-D72A31642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67125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CECEC"/>
          </a:solidFill>
          <a:ln xmlns:a="http://schemas.openxmlformats.org/drawingml/2006/main" w="9525">
            <a:solidFill>
              <a:srgbClr val="D9474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10BC598-5AD5-463A-8AC8-41724C6D9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95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4747"/>
                </a:solidFill>
                <a:latin typeface="Helvetica Neue"/>
                <a:ea typeface="Helvetica Neue"/>
                <a:cs typeface="Helvetica Neue"/>
              </a:rPr>
              <a:t>Blank workspace 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C677F9-BB55-48BD-A381-A20303A3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238625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FDBC25-29D3-4939-ABAB-E686DA80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391025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Import CSV · NEW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7EAA50-78CB-45E9-952B-347BE94D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2238375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1F3F4"/>
          </a:solidFill>
          <a:ln xmlns:a="http://schemas.openxmlformats.org/drawingml/2006/main" w="9525">
            <a:solidFill>
              <a:srgbClr val="959DA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124F02-7C6B-46CC-8E08-1754087C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105400"/>
            <a:ext cx="1952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Skip onboarding · TBD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8E9DD5F-2E4F-49D5-A4ED-74701E38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24050"/>
            <a:ext cx="0" cy="388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CDD0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4B9304-F71F-4113-A821-52165E88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526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Stop resetting.</a:t>
            </a:r>
          </a:p>
          <a:p xmlns:a="http://schemas.openxmlformats.org/drawingml/2006/main">
            <a:pPr algn="l">
              <a:defRPr sz="27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315"/>
                </a:solidFill>
                <a:latin typeface="Helvetica Neue"/>
                <a:ea typeface="Helvetica Neue"/>
                <a:cs typeface="Helvetica Neue"/>
              </a:rPr>
              <a:t>Start branching.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E2C7E1E-651F-4C82-B5FD-27EA1333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337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One prepared state.</a:t>
            </a:r>
          </a:p>
          <a:p xmlns:a="http://schemas.openxmlformats.org/drawingml/2006/main">
            <a:pPr algn="l">
              <a:defRPr sz="15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76D"/>
                </a:solidFill>
                <a:latin typeface="Helvetica Neue"/>
                <a:ea typeface="Helvetica Neue"/>
                <a:cs typeface="Helvetica Neue"/>
              </a:rPr>
              <a:t>Every scenario.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387B476-22E4-4F4A-8FF3-D7911FDD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381500"/>
            <a:ext cx="3333750" cy="876300"/>
          </a:xfrm>
          <a:prstGeom xmlns:a="http://schemas.openxmlformats.org/drawingml/2006/main" prst="roundRect">
            <a:avLst>
              <a:gd name="adj" fmla="val 11957"/>
            </a:avLst>
          </a:prstGeom>
          <a:solidFill xmlns:a="http://schemas.openxmlformats.org/drawingml/2006/main">
            <a:srgbClr val="10131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784ACA-9CDA-4A0B-B4F8-6A43DCB4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91050"/>
            <a:ext cx="2914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8E4D0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78E4D0"/>
                </a:solidFill>
                <a:latin typeface="Courier New"/>
                <a:ea typeface="Courier New"/>
                <a:cs typeface="Courier New"/>
              </a:rPr>
              <a:t>$ branchpoint run</a:t>
            </a:r>
          </a:p>
          <a:p xmlns:a="http://schemas.openxmlformats.org/drawingml/2006/main">
            <a:pPr algn="l">
              <a:defRPr sz="1275" b="1">
                <a:solidFill>
                  <a:srgbClr val="78E4D0"/>
                </a:solidFill>
                <a:latin typeface="Courier New"/>
                <a:ea typeface="Courier New"/>
                <a:cs typeface="Courier New"/>
              </a:defRPr>
            </a:pPr>
            <a:r>
              <a:rPr sz="1275" b="1">
                <a:solidFill>
                  <a:srgbClr val="78E4D0"/>
                </a:solidFill>
                <a:latin typeface="Courier New"/>
                <a:ea typeface="Courier New"/>
                <a:cs typeface="Courier New"/>
              </a:rPr>
              <a:t>  --suite nimbus-onboarding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0855651-AA1D-43BF-A8C9-EE8D0F25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0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76B5C"/>
                </a:solidFill>
                <a:latin typeface="Helvetica Neue"/>
                <a:ea typeface="Helvetica Neue"/>
                <a:cs typeface="Helvetica Neue"/>
              </a:rPr>
              <a:t>Powered by Runloop</a:t>
            </a:r>
          </a:p>
        </p:txBody>
      </p:sp>
    </p:spTree>
    <p:extLst>
      <p:ext uri="{BB962C8B-B14F-4D97-AF65-F5344CB8AC3E}">
        <p14:creationId xmlns:p14="http://schemas.microsoft.com/office/powerpoint/2010/main" val="15961011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2026-08-30T00:41:19.3090000Z</dcterms:created>
  <dcterms:modified xsi:type="dcterms:W3CDTF">2026-08-30T00:41:19.3090000Z</dcterms:modified>
</coreProperties>
</file>